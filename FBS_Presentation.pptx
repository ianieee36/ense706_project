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5" r:id="rId1"/>
  </p:sldMasterIdLst>
  <p:notesMasterIdLst>
    <p:notesMasterId r:id="rId9"/>
  </p:notesMasterIdLst>
  <p:sldIdLst>
    <p:sldId id="256" r:id="rId2"/>
    <p:sldId id="257" r:id="rId3"/>
    <p:sldId id="258" r:id="rId4"/>
    <p:sldId id="267" r:id="rId5"/>
    <p:sldId id="259" r:id="rId6"/>
    <p:sldId id="264" r:id="rId7"/>
    <p:sldId id="268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A4E4F3-A2B9-4579-AB69-941DDD329CB0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8BB5DA-648A-49CD-AB20-0ACE114473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223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962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Integration</a:t>
            </a:r>
          </a:p>
          <a:p>
            <a:pPr marL="228600" indent="-228600">
              <a:buAutoNum type="arabicPeriod"/>
            </a:pPr>
            <a:r>
              <a:rPr lang="en-US" dirty="0"/>
              <a:t>System Reliability</a:t>
            </a:r>
          </a:p>
          <a:p>
            <a:pPr marL="228600" indent="-228600">
              <a:buAutoNum type="arabicPeriod"/>
            </a:pPr>
            <a:r>
              <a:rPr lang="en-US" dirty="0"/>
              <a:t>Automation</a:t>
            </a:r>
          </a:p>
          <a:p>
            <a:pPr marL="228600" indent="-228600">
              <a:buAutoNum type="arabicPeriod"/>
            </a:pPr>
            <a:r>
              <a:rPr lang="en-US" dirty="0"/>
              <a:t>Communication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98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Layer – Data &amp; Behaviors</a:t>
            </a:r>
          </a:p>
          <a:p>
            <a:r>
              <a:rPr lang="en-US" dirty="0"/>
              <a:t>Repository Layer – Persistence </a:t>
            </a:r>
          </a:p>
          <a:p>
            <a:r>
              <a:rPr lang="en-US" dirty="0"/>
              <a:t>Service Layer – Business Rules</a:t>
            </a:r>
          </a:p>
          <a:p>
            <a:r>
              <a:rPr lang="en-US" dirty="0"/>
              <a:t>UI Layer – User Interaction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8BB5DA-648A-49CD-AB20-0ACE1144733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3024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86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842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19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9801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093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884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810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675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38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2129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15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4/19/2026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758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18" r:id="rId6"/>
    <p:sldLayoutId id="2147483714" r:id="rId7"/>
    <p:sldLayoutId id="2147483715" r:id="rId8"/>
    <p:sldLayoutId id="2147483716" r:id="rId9"/>
    <p:sldLayoutId id="2147483717" r:id="rId10"/>
    <p:sldLayoutId id="2147483719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142E1B0-C90D-D6C2-A601-F1EA588B39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5" t="9091" r="6756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C1F42B-7B68-5B5C-B5B7-228095378B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5731580"/>
            <a:ext cx="8196431" cy="960120"/>
          </a:xfrm>
          <a:ln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100" dirty="0"/>
              <a:t>Air New Zealand</a:t>
            </a:r>
            <a:br>
              <a:rPr lang="en-US" sz="3100" dirty="0"/>
            </a:br>
            <a:r>
              <a:rPr lang="en-US" sz="3100" dirty="0"/>
              <a:t>Flight Booking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FB6620-B9B4-831C-893F-A3F1FCF798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04503" y="5731580"/>
            <a:ext cx="3392781" cy="960120"/>
          </a:xfrm>
        </p:spPr>
        <p:txBody>
          <a:bodyPr anchor="ctr">
            <a:normAutofit/>
          </a:bodyPr>
          <a:lstStyle/>
          <a:p>
            <a:pPr algn="r"/>
            <a:r>
              <a:rPr lang="en-US" sz="1900" dirty="0"/>
              <a:t>Project Phase 1 - Presentation</a:t>
            </a:r>
          </a:p>
          <a:p>
            <a:pPr algn="r"/>
            <a:r>
              <a:rPr lang="en-US" sz="1900" dirty="0"/>
              <a:t>Christian Cantos - 23188023 </a:t>
            </a:r>
          </a:p>
        </p:txBody>
      </p:sp>
    </p:spTree>
    <p:extLst>
      <p:ext uri="{BB962C8B-B14F-4D97-AF65-F5344CB8AC3E}">
        <p14:creationId xmlns:p14="http://schemas.microsoft.com/office/powerpoint/2010/main" val="32890939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A3A37-38DC-BE4E-3ED5-41B0BE01C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83717"/>
          </a:xfrm>
        </p:spPr>
        <p:txBody>
          <a:bodyPr/>
          <a:lstStyle/>
          <a:p>
            <a:r>
              <a:rPr lang="en-US" dirty="0"/>
              <a:t>Background and 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2944-2CB3-79FC-7297-0C8AB3D836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578608"/>
            <a:ext cx="5349240" cy="3767328"/>
          </a:xfrm>
        </p:spPr>
        <p:txBody>
          <a:bodyPr/>
          <a:lstStyle/>
          <a:p>
            <a:r>
              <a:rPr lang="en-US" dirty="0"/>
              <a:t>Air New Zealand operates in a highly competitive aviation industry.</a:t>
            </a:r>
          </a:p>
          <a:p>
            <a:r>
              <a:rPr lang="en-US" dirty="0"/>
              <a:t>Efficiency, accuracy, and customer satisfaction are critical for success.</a:t>
            </a:r>
          </a:p>
          <a:p>
            <a:r>
              <a:rPr lang="en-US" dirty="0"/>
              <a:t>Handles large volumes of:</a:t>
            </a:r>
          </a:p>
          <a:p>
            <a:pPr lvl="1"/>
            <a:r>
              <a:rPr lang="en-US" dirty="0"/>
              <a:t>Flight schedules</a:t>
            </a:r>
          </a:p>
          <a:p>
            <a:pPr lvl="1"/>
            <a:r>
              <a:rPr lang="en-US" dirty="0"/>
              <a:t>Customer bookings</a:t>
            </a:r>
          </a:p>
          <a:p>
            <a:pPr lvl="1"/>
            <a:r>
              <a:rPr lang="en-US" dirty="0"/>
              <a:t>Operational data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BFB8031-34EB-6FD1-060A-C888F1399597}"/>
              </a:ext>
            </a:extLst>
          </p:cNvPr>
          <p:cNvSpPr txBox="1">
            <a:spLocks/>
          </p:cNvSpPr>
          <p:nvPr/>
        </p:nvSpPr>
        <p:spPr>
          <a:xfrm>
            <a:off x="6096000" y="2578608"/>
            <a:ext cx="5193792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06B2CAD-D292-2D8D-CC60-9991809D5DBB}"/>
              </a:ext>
            </a:extLst>
          </p:cNvPr>
          <p:cNvSpPr txBox="1">
            <a:spLocks/>
          </p:cNvSpPr>
          <p:nvPr/>
        </p:nvSpPr>
        <p:spPr>
          <a:xfrm>
            <a:off x="6096000" y="2578608"/>
            <a:ext cx="5193792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company heavily relies on digital systems for their daily operations such as booking flights, flight management, and scheduling. </a:t>
            </a:r>
          </a:p>
          <a:p>
            <a:r>
              <a:rPr lang="en-US" dirty="0"/>
              <a:t>Currently relies on a disconnected systems that results to:</a:t>
            </a:r>
          </a:p>
          <a:p>
            <a:pPr lvl="1"/>
            <a:r>
              <a:rPr lang="en-US" dirty="0"/>
              <a:t>Lack of coordination and integration</a:t>
            </a:r>
          </a:p>
          <a:p>
            <a:pPr lvl="1"/>
            <a:r>
              <a:rPr lang="en-US" dirty="0"/>
              <a:t>Operational inefficiencies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224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A64B4-3A46-A363-718F-1F3CDF266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Stakeholders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6FD3470-D9C3-2354-E9B0-D7ECDCD908B9}"/>
              </a:ext>
            </a:extLst>
          </p:cNvPr>
          <p:cNvSpPr txBox="1">
            <a:spLocks/>
          </p:cNvSpPr>
          <p:nvPr/>
        </p:nvSpPr>
        <p:spPr>
          <a:xfrm>
            <a:off x="521208" y="4319016"/>
            <a:ext cx="4288536" cy="13289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8206D5-5B89-7813-1498-443DC5AB5C44}"/>
              </a:ext>
            </a:extLst>
          </p:cNvPr>
          <p:cNvSpPr txBox="1"/>
          <p:nvPr/>
        </p:nvSpPr>
        <p:spPr>
          <a:xfrm>
            <a:off x="515112" y="2441448"/>
            <a:ext cx="32260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Customer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Search and view flights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Book flights,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Manage Bookings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C4B8ED-CBBB-E636-B8E2-E5984F46DAC4}"/>
              </a:ext>
            </a:extLst>
          </p:cNvPr>
          <p:cNvSpPr txBox="1"/>
          <p:nvPr/>
        </p:nvSpPr>
        <p:spPr>
          <a:xfrm>
            <a:off x="515112" y="3995850"/>
            <a:ext cx="32260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Guests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Search and view flights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181EEC-1B71-8B79-33FD-A256B67EECC5}"/>
              </a:ext>
            </a:extLst>
          </p:cNvPr>
          <p:cNvSpPr txBox="1"/>
          <p:nvPr/>
        </p:nvSpPr>
        <p:spPr>
          <a:xfrm>
            <a:off x="515112" y="5047779"/>
            <a:ext cx="330891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Admin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Flight scheduling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Monitor seat availability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Flight management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CD3F63-1DDB-6A82-8B14-A416915983B8}"/>
              </a:ext>
            </a:extLst>
          </p:cNvPr>
          <p:cNvSpPr txBox="1"/>
          <p:nvPr/>
        </p:nvSpPr>
        <p:spPr>
          <a:xfrm>
            <a:off x="5888736" y="3995850"/>
            <a:ext cx="38448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System Developers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Builds and design the system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B7300D-4AA5-968D-A9E7-025C4E48AA6F}"/>
              </a:ext>
            </a:extLst>
          </p:cNvPr>
          <p:cNvSpPr txBox="1"/>
          <p:nvPr/>
        </p:nvSpPr>
        <p:spPr>
          <a:xfrm>
            <a:off x="5888736" y="2867858"/>
            <a:ext cx="34857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Airline Management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Relies on system’s output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8463FD-6140-7308-62B1-36FF5E3F1F1E}"/>
              </a:ext>
            </a:extLst>
          </p:cNvPr>
          <p:cNvSpPr txBox="1"/>
          <p:nvPr/>
        </p:nvSpPr>
        <p:spPr>
          <a:xfrm>
            <a:off x="5888736" y="5233261"/>
            <a:ext cx="3831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Support / System Administrator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Maintains &amp; fixes the system</a:t>
            </a:r>
          </a:p>
        </p:txBody>
      </p:sp>
    </p:spTree>
    <p:extLst>
      <p:ext uri="{BB962C8B-B14F-4D97-AF65-F5344CB8AC3E}">
        <p14:creationId xmlns:p14="http://schemas.microsoft.com/office/powerpoint/2010/main" val="26709760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A421D-EDF4-53D2-2C77-72294606C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Flight Booking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CC3AB9-2190-0D00-BBCD-F5DE36C72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addressed these challenges, there is a clear need for a centralized, integrated flight booking system that can:</a:t>
            </a:r>
          </a:p>
          <a:p>
            <a:pPr lvl="1"/>
            <a:r>
              <a:rPr lang="en-US" dirty="0"/>
              <a:t>Provide a single platform for managing flights, bookings, and customer data.</a:t>
            </a:r>
          </a:p>
          <a:p>
            <a:pPr lvl="1"/>
            <a:r>
              <a:rPr lang="en-US" dirty="0"/>
              <a:t>Enable real-time updates and accurate tracking of flight and booking information</a:t>
            </a:r>
          </a:p>
          <a:p>
            <a:pPr lvl="1"/>
            <a:r>
              <a:rPr lang="en-US" dirty="0"/>
              <a:t>Automate key processes such as booking, cancellations, and seat management</a:t>
            </a:r>
          </a:p>
          <a:p>
            <a:pPr lvl="1"/>
            <a:r>
              <a:rPr lang="en-US" dirty="0"/>
              <a:t>Improve coordination between staff and departments</a:t>
            </a:r>
          </a:p>
          <a:p>
            <a:pPr lvl="1"/>
            <a:r>
              <a:rPr lang="en-US" dirty="0"/>
              <a:t>Enhance the overall customer experience through faster and more reliable services.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1836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66F24-EE6B-F70F-A455-67C0FDFC2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UML Class Diagram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6BD0CF7-6292-CD41-3427-AC89855037B8}"/>
              </a:ext>
            </a:extLst>
          </p:cNvPr>
          <p:cNvCxnSpPr/>
          <p:nvPr/>
        </p:nvCxnSpPr>
        <p:spPr>
          <a:xfrm>
            <a:off x="2167128" y="3118104"/>
            <a:ext cx="340141" cy="210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14C187C-90E3-890C-4B74-156C4E0371B9}"/>
              </a:ext>
            </a:extLst>
          </p:cNvPr>
          <p:cNvSpPr txBox="1"/>
          <p:nvPr/>
        </p:nvSpPr>
        <p:spPr>
          <a:xfrm>
            <a:off x="769208" y="2748772"/>
            <a:ext cx="1474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Model Layer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17FA9C6-DA36-2824-EE03-D5C028CD6649}"/>
              </a:ext>
            </a:extLst>
          </p:cNvPr>
          <p:cNvCxnSpPr>
            <a:cxnSpLocks/>
          </p:cNvCxnSpPr>
          <p:nvPr/>
        </p:nvCxnSpPr>
        <p:spPr>
          <a:xfrm flipH="1">
            <a:off x="9180576" y="1883854"/>
            <a:ext cx="427118" cy="228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040A9FB-7A5C-F225-ECA3-632F76DDBB16}"/>
              </a:ext>
            </a:extLst>
          </p:cNvPr>
          <p:cNvSpPr txBox="1"/>
          <p:nvPr/>
        </p:nvSpPr>
        <p:spPr>
          <a:xfrm>
            <a:off x="9555409" y="1554670"/>
            <a:ext cx="1962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Repository Layer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E4F8D99-9B16-6A40-6F07-E711D5A3BF0A}"/>
              </a:ext>
            </a:extLst>
          </p:cNvPr>
          <p:cNvCxnSpPr>
            <a:cxnSpLocks/>
          </p:cNvCxnSpPr>
          <p:nvPr/>
        </p:nvCxnSpPr>
        <p:spPr>
          <a:xfrm flipH="1">
            <a:off x="9128291" y="3586876"/>
            <a:ext cx="427118" cy="228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76EFBE2-914E-3413-23A2-90A002FCA782}"/>
              </a:ext>
            </a:extLst>
          </p:cNvPr>
          <p:cNvSpPr txBox="1"/>
          <p:nvPr/>
        </p:nvSpPr>
        <p:spPr>
          <a:xfrm>
            <a:off x="9518583" y="3261288"/>
            <a:ext cx="1609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Service Layer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F3E542-4447-58D7-6BF1-F247DBA38954}"/>
              </a:ext>
            </a:extLst>
          </p:cNvPr>
          <p:cNvCxnSpPr>
            <a:cxnSpLocks/>
          </p:cNvCxnSpPr>
          <p:nvPr/>
        </p:nvCxnSpPr>
        <p:spPr>
          <a:xfrm flipH="1">
            <a:off x="9171021" y="5417725"/>
            <a:ext cx="427118" cy="228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1C91ECA-63D4-0E6F-06B5-47DDC705CB75}"/>
              </a:ext>
            </a:extLst>
          </p:cNvPr>
          <p:cNvSpPr txBox="1"/>
          <p:nvPr/>
        </p:nvSpPr>
        <p:spPr>
          <a:xfrm>
            <a:off x="9555409" y="5048393"/>
            <a:ext cx="1048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UI Layer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AE208D6-B76D-056A-4F42-8A2A7FA26C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8435" y="1952339"/>
            <a:ext cx="6551874" cy="441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9283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733973-FCB2-09A3-A4C0-399D0C073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793325"/>
            <a:ext cx="11155680" cy="1463040"/>
          </a:xfrm>
        </p:spPr>
        <p:txBody>
          <a:bodyPr/>
          <a:lstStyle/>
          <a:p>
            <a:r>
              <a:rPr lang="en-US" dirty="0"/>
              <a:t>OOP Principles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06DE447-A264-B418-AA68-355A52F8A5AE}"/>
              </a:ext>
            </a:extLst>
          </p:cNvPr>
          <p:cNvGrpSpPr/>
          <p:nvPr/>
        </p:nvGrpSpPr>
        <p:grpSpPr>
          <a:xfrm>
            <a:off x="515112" y="1850503"/>
            <a:ext cx="2986175" cy="2125980"/>
            <a:chOff x="515111" y="2112264"/>
            <a:chExt cx="2709775" cy="1367238"/>
          </a:xfrm>
        </p:grpSpPr>
        <p:sp>
          <p:nvSpPr>
            <p:cNvPr id="6" name="Shape 8">
              <a:extLst>
                <a:ext uri="{FF2B5EF4-FFF2-40B4-BE49-F238E27FC236}">
                  <a16:creationId xmlns:a16="http://schemas.microsoft.com/office/drawing/2014/main" id="{E1EDEE3A-F51B-7950-9FAF-192F35234E97}"/>
                </a:ext>
              </a:extLst>
            </p:cNvPr>
            <p:cNvSpPr/>
            <p:nvPr/>
          </p:nvSpPr>
          <p:spPr>
            <a:xfrm>
              <a:off x="515111" y="2112264"/>
              <a:ext cx="2709775" cy="136723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NZ"/>
            </a:p>
          </p:txBody>
        </p:sp>
        <p:sp>
          <p:nvSpPr>
            <p:cNvPr id="4" name="Shape 3">
              <a:extLst>
                <a:ext uri="{FF2B5EF4-FFF2-40B4-BE49-F238E27FC236}">
                  <a16:creationId xmlns:a16="http://schemas.microsoft.com/office/drawing/2014/main" id="{8BFE8EA7-843C-7071-A7BA-CC2CEEFF4ED6}"/>
                </a:ext>
              </a:extLst>
            </p:cNvPr>
            <p:cNvSpPr/>
            <p:nvPr/>
          </p:nvSpPr>
          <p:spPr>
            <a:xfrm>
              <a:off x="515112" y="2112264"/>
              <a:ext cx="2697480" cy="329184"/>
            </a:xfrm>
            <a:prstGeom prst="rect">
              <a:avLst/>
            </a:prstGeom>
            <a:solidFill>
              <a:srgbClr val="0D1B2A"/>
            </a:solidFill>
            <a:ln w="12700">
              <a:solidFill>
                <a:srgbClr val="0D1B2A"/>
              </a:solidFill>
              <a:prstDash val="solid"/>
            </a:ln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NZ"/>
            </a:p>
          </p:txBody>
        </p:sp>
        <p:sp>
          <p:nvSpPr>
            <p:cNvPr id="5" name="Text 10">
              <a:extLst>
                <a:ext uri="{FF2B5EF4-FFF2-40B4-BE49-F238E27FC236}">
                  <a16:creationId xmlns:a16="http://schemas.microsoft.com/office/drawing/2014/main" id="{441945BC-9B74-32A0-48E2-FEF6C33FB85E}"/>
                </a:ext>
              </a:extLst>
            </p:cNvPr>
            <p:cNvSpPr/>
            <p:nvPr/>
          </p:nvSpPr>
          <p:spPr>
            <a:xfrm>
              <a:off x="583692" y="2157984"/>
              <a:ext cx="25603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Encapsulation</a:t>
              </a:r>
              <a:endParaRPr lang="en-US" sz="1600" dirty="0"/>
            </a:p>
          </p:txBody>
        </p:sp>
        <p:sp>
          <p:nvSpPr>
            <p:cNvPr id="7" name="Text 11">
              <a:extLst>
                <a:ext uri="{FF2B5EF4-FFF2-40B4-BE49-F238E27FC236}">
                  <a16:creationId xmlns:a16="http://schemas.microsoft.com/office/drawing/2014/main" id="{8A978414-40D0-5553-B5BE-C64CBBCBE6D6}"/>
                </a:ext>
              </a:extLst>
            </p:cNvPr>
            <p:cNvSpPr/>
            <p:nvPr/>
          </p:nvSpPr>
          <p:spPr>
            <a:xfrm>
              <a:off x="583692" y="2487168"/>
              <a:ext cx="2532888" cy="8046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just">
                <a:buNone/>
              </a:pPr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All fields are private. Updating seats are only accessed through method </a:t>
              </a:r>
              <a:r>
                <a:rPr lang="en-US" sz="105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UpdateSeatCount</a:t>
              </a:r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() – this protects the internal state of the flight class and controlling how seats are modified.</a:t>
              </a:r>
              <a:endParaRPr lang="en-US" sz="1050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3E9034A-09AF-708E-E39B-8BC8B5F39FE7}"/>
              </a:ext>
            </a:extLst>
          </p:cNvPr>
          <p:cNvGrpSpPr/>
          <p:nvPr/>
        </p:nvGrpSpPr>
        <p:grpSpPr>
          <a:xfrm>
            <a:off x="4096983" y="1850503"/>
            <a:ext cx="2979400" cy="2125980"/>
            <a:chOff x="3502152" y="2112264"/>
            <a:chExt cx="2697480" cy="1664208"/>
          </a:xfrm>
        </p:grpSpPr>
        <p:sp>
          <p:nvSpPr>
            <p:cNvPr id="8" name="Shape 8">
              <a:extLst>
                <a:ext uri="{FF2B5EF4-FFF2-40B4-BE49-F238E27FC236}">
                  <a16:creationId xmlns:a16="http://schemas.microsoft.com/office/drawing/2014/main" id="{289A9C6E-2AE0-3F98-3CDE-2BFAE7350C41}"/>
                </a:ext>
              </a:extLst>
            </p:cNvPr>
            <p:cNvSpPr/>
            <p:nvPr/>
          </p:nvSpPr>
          <p:spPr>
            <a:xfrm>
              <a:off x="3502152" y="2112264"/>
              <a:ext cx="2697480" cy="16642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NZ"/>
            </a:p>
          </p:txBody>
        </p:sp>
        <p:sp>
          <p:nvSpPr>
            <p:cNvPr id="9" name="Shape 3">
              <a:extLst>
                <a:ext uri="{FF2B5EF4-FFF2-40B4-BE49-F238E27FC236}">
                  <a16:creationId xmlns:a16="http://schemas.microsoft.com/office/drawing/2014/main" id="{A1BEDBC4-EBEC-063B-B03B-88EFE3191978}"/>
                </a:ext>
              </a:extLst>
            </p:cNvPr>
            <p:cNvSpPr/>
            <p:nvPr/>
          </p:nvSpPr>
          <p:spPr>
            <a:xfrm>
              <a:off x="3502152" y="2112264"/>
              <a:ext cx="2697480" cy="329184"/>
            </a:xfrm>
            <a:prstGeom prst="rect">
              <a:avLst/>
            </a:prstGeom>
            <a:solidFill>
              <a:srgbClr val="0D1B2A"/>
            </a:solidFill>
            <a:ln w="12700">
              <a:solidFill>
                <a:srgbClr val="0D1B2A"/>
              </a:solidFill>
              <a:prstDash val="solid"/>
            </a:ln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NZ"/>
            </a:p>
          </p:txBody>
        </p:sp>
        <p:sp>
          <p:nvSpPr>
            <p:cNvPr id="10" name="Text 10">
              <a:extLst>
                <a:ext uri="{FF2B5EF4-FFF2-40B4-BE49-F238E27FC236}">
                  <a16:creationId xmlns:a16="http://schemas.microsoft.com/office/drawing/2014/main" id="{5008DB0F-EB2B-93FB-CC19-BB1E8E29D4CD}"/>
                </a:ext>
              </a:extLst>
            </p:cNvPr>
            <p:cNvSpPr/>
            <p:nvPr/>
          </p:nvSpPr>
          <p:spPr>
            <a:xfrm>
              <a:off x="3570732" y="2157984"/>
              <a:ext cx="25603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Abstraction</a:t>
              </a:r>
              <a:endParaRPr lang="en-US" sz="1600" dirty="0"/>
            </a:p>
          </p:txBody>
        </p:sp>
        <p:sp>
          <p:nvSpPr>
            <p:cNvPr id="11" name="Text 11">
              <a:extLst>
                <a:ext uri="{FF2B5EF4-FFF2-40B4-BE49-F238E27FC236}">
                  <a16:creationId xmlns:a16="http://schemas.microsoft.com/office/drawing/2014/main" id="{4A65BF45-5071-3B4F-64F4-27EC4E4621B6}"/>
                </a:ext>
              </a:extLst>
            </p:cNvPr>
            <p:cNvSpPr/>
            <p:nvPr/>
          </p:nvSpPr>
          <p:spPr>
            <a:xfrm>
              <a:off x="3570732" y="2487168"/>
              <a:ext cx="2532888" cy="8046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just">
                <a:buNone/>
              </a:pPr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Used interface classes, which separates the system’s operations and how they are being implemented – It allows the system to be flexible and easier for testing</a:t>
              </a:r>
              <a:endParaRPr lang="en-US" sz="1050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469F94-F94E-BB25-A5B9-CBD1D7112524}"/>
              </a:ext>
            </a:extLst>
          </p:cNvPr>
          <p:cNvGrpSpPr/>
          <p:nvPr/>
        </p:nvGrpSpPr>
        <p:grpSpPr>
          <a:xfrm>
            <a:off x="521885" y="4171423"/>
            <a:ext cx="2979400" cy="2125980"/>
            <a:chOff x="515112" y="4087369"/>
            <a:chExt cx="2697480" cy="1664208"/>
          </a:xfrm>
        </p:grpSpPr>
        <p:sp>
          <p:nvSpPr>
            <p:cNvPr id="12" name="Shape 8">
              <a:extLst>
                <a:ext uri="{FF2B5EF4-FFF2-40B4-BE49-F238E27FC236}">
                  <a16:creationId xmlns:a16="http://schemas.microsoft.com/office/drawing/2014/main" id="{E0FC2AF6-CAC6-5C90-B7A8-F4915BBFA4CB}"/>
                </a:ext>
              </a:extLst>
            </p:cNvPr>
            <p:cNvSpPr/>
            <p:nvPr/>
          </p:nvSpPr>
          <p:spPr>
            <a:xfrm>
              <a:off x="515112" y="4087369"/>
              <a:ext cx="2697480" cy="16642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NZ" dirty="0"/>
            </a:p>
          </p:txBody>
        </p:sp>
        <p:sp>
          <p:nvSpPr>
            <p:cNvPr id="13" name="Shape 3">
              <a:extLst>
                <a:ext uri="{FF2B5EF4-FFF2-40B4-BE49-F238E27FC236}">
                  <a16:creationId xmlns:a16="http://schemas.microsoft.com/office/drawing/2014/main" id="{8C45AC3D-DAAC-3EC8-2908-16A36E256E84}"/>
                </a:ext>
              </a:extLst>
            </p:cNvPr>
            <p:cNvSpPr/>
            <p:nvPr/>
          </p:nvSpPr>
          <p:spPr>
            <a:xfrm>
              <a:off x="515112" y="4087369"/>
              <a:ext cx="2697480" cy="329184"/>
            </a:xfrm>
            <a:prstGeom prst="rect">
              <a:avLst/>
            </a:prstGeom>
            <a:solidFill>
              <a:srgbClr val="0D1B2A"/>
            </a:solidFill>
            <a:ln w="12700">
              <a:solidFill>
                <a:srgbClr val="0D1B2A"/>
              </a:solidFill>
              <a:prstDash val="solid"/>
            </a:ln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NZ"/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53C4923D-A7D0-C7EF-A4C4-553DFF84CC92}"/>
                </a:ext>
              </a:extLst>
            </p:cNvPr>
            <p:cNvSpPr/>
            <p:nvPr/>
          </p:nvSpPr>
          <p:spPr>
            <a:xfrm>
              <a:off x="583692" y="4133089"/>
              <a:ext cx="25603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Separation of concerns</a:t>
              </a:r>
              <a:endParaRPr lang="en-US" sz="1600" dirty="0"/>
            </a:p>
          </p:txBody>
        </p:sp>
        <p:sp>
          <p:nvSpPr>
            <p:cNvPr id="15" name="Text 11">
              <a:extLst>
                <a:ext uri="{FF2B5EF4-FFF2-40B4-BE49-F238E27FC236}">
                  <a16:creationId xmlns:a16="http://schemas.microsoft.com/office/drawing/2014/main" id="{42FDBD05-BF97-86CC-DC96-B5FAE51CE4AA}"/>
                </a:ext>
              </a:extLst>
            </p:cNvPr>
            <p:cNvSpPr/>
            <p:nvPr/>
          </p:nvSpPr>
          <p:spPr>
            <a:xfrm>
              <a:off x="583692" y="4462273"/>
              <a:ext cx="2532888" cy="8046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just">
                <a:buNone/>
              </a:pPr>
              <a:r>
                <a:rPr lang="en-US" sz="105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Dividing the system into 4 layers: model, repository, service and UI – each layer has their own specific  responsibilities which improves maintainability and scalability.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1E429D9-CA6D-56CF-CE58-8CDAF587204C}"/>
              </a:ext>
            </a:extLst>
          </p:cNvPr>
          <p:cNvGrpSpPr/>
          <p:nvPr/>
        </p:nvGrpSpPr>
        <p:grpSpPr>
          <a:xfrm>
            <a:off x="7672079" y="1850503"/>
            <a:ext cx="2972626" cy="2125980"/>
            <a:chOff x="3502152" y="4133089"/>
            <a:chExt cx="2697480" cy="1664208"/>
          </a:xfrm>
        </p:grpSpPr>
        <p:sp>
          <p:nvSpPr>
            <p:cNvPr id="18" name="Shape 8">
              <a:extLst>
                <a:ext uri="{FF2B5EF4-FFF2-40B4-BE49-F238E27FC236}">
                  <a16:creationId xmlns:a16="http://schemas.microsoft.com/office/drawing/2014/main" id="{9C194D19-E685-6AAF-7A62-C655F86AD316}"/>
                </a:ext>
              </a:extLst>
            </p:cNvPr>
            <p:cNvSpPr/>
            <p:nvPr/>
          </p:nvSpPr>
          <p:spPr>
            <a:xfrm>
              <a:off x="3502152" y="4133089"/>
              <a:ext cx="2697480" cy="16642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NZ" dirty="0"/>
            </a:p>
          </p:txBody>
        </p:sp>
        <p:sp>
          <p:nvSpPr>
            <p:cNvPr id="19" name="Shape 3">
              <a:extLst>
                <a:ext uri="{FF2B5EF4-FFF2-40B4-BE49-F238E27FC236}">
                  <a16:creationId xmlns:a16="http://schemas.microsoft.com/office/drawing/2014/main" id="{3465464E-03C6-590E-AF0B-E0231530C105}"/>
                </a:ext>
              </a:extLst>
            </p:cNvPr>
            <p:cNvSpPr/>
            <p:nvPr/>
          </p:nvSpPr>
          <p:spPr>
            <a:xfrm>
              <a:off x="3502152" y="4133089"/>
              <a:ext cx="2697480" cy="329184"/>
            </a:xfrm>
            <a:prstGeom prst="rect">
              <a:avLst/>
            </a:prstGeom>
            <a:solidFill>
              <a:srgbClr val="0D1B2A"/>
            </a:solidFill>
            <a:ln w="12700">
              <a:solidFill>
                <a:srgbClr val="0D1B2A"/>
              </a:solidFill>
              <a:prstDash val="solid"/>
            </a:ln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NZ"/>
            </a:p>
          </p:txBody>
        </p:sp>
        <p:sp>
          <p:nvSpPr>
            <p:cNvPr id="20" name="Text 10">
              <a:extLst>
                <a:ext uri="{FF2B5EF4-FFF2-40B4-BE49-F238E27FC236}">
                  <a16:creationId xmlns:a16="http://schemas.microsoft.com/office/drawing/2014/main" id="{2CC4364B-E605-0557-FAC6-103095791FA0}"/>
                </a:ext>
              </a:extLst>
            </p:cNvPr>
            <p:cNvSpPr/>
            <p:nvPr/>
          </p:nvSpPr>
          <p:spPr>
            <a:xfrm>
              <a:off x="3570732" y="4178809"/>
              <a:ext cx="25603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Polymorphism</a:t>
              </a:r>
              <a:endParaRPr lang="en-US" sz="1600" dirty="0"/>
            </a:p>
          </p:txBody>
        </p:sp>
        <p:sp>
          <p:nvSpPr>
            <p:cNvPr id="21" name="Text 11">
              <a:extLst>
                <a:ext uri="{FF2B5EF4-FFF2-40B4-BE49-F238E27FC236}">
                  <a16:creationId xmlns:a16="http://schemas.microsoft.com/office/drawing/2014/main" id="{AF9B5BA2-2FE0-5677-8A3B-EEE765334060}"/>
                </a:ext>
              </a:extLst>
            </p:cNvPr>
            <p:cNvSpPr/>
            <p:nvPr/>
          </p:nvSpPr>
          <p:spPr>
            <a:xfrm>
              <a:off x="3570732" y="4507993"/>
              <a:ext cx="2532888" cy="8046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just">
                <a:buNone/>
              </a:pPr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Interface-based polymorphism. </a:t>
              </a:r>
              <a:r>
                <a:rPr lang="en-US" sz="105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IFlightService</a:t>
              </a:r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, </a:t>
              </a:r>
              <a:r>
                <a:rPr lang="en-US" sz="105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IBookingService</a:t>
              </a:r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, </a:t>
              </a:r>
              <a:r>
                <a:rPr lang="en-US" sz="105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IUserService</a:t>
              </a:r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can be user for different implementations, and it allows the system to interact with these services. It improves flexibility, maintainability and testability.</a:t>
              </a:r>
              <a:endParaRPr lang="en-US" sz="1050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D066E82-6EE4-C2C6-FE6D-080450BA41FC}"/>
              </a:ext>
            </a:extLst>
          </p:cNvPr>
          <p:cNvGrpSpPr/>
          <p:nvPr/>
        </p:nvGrpSpPr>
        <p:grpSpPr>
          <a:xfrm>
            <a:off x="4096982" y="4171424"/>
            <a:ext cx="2979400" cy="2125979"/>
            <a:chOff x="7741920" y="1865376"/>
            <a:chExt cx="3645408" cy="2221993"/>
          </a:xfrm>
        </p:grpSpPr>
        <p:sp>
          <p:nvSpPr>
            <p:cNvPr id="26" name="Shape 8">
              <a:extLst>
                <a:ext uri="{FF2B5EF4-FFF2-40B4-BE49-F238E27FC236}">
                  <a16:creationId xmlns:a16="http://schemas.microsoft.com/office/drawing/2014/main" id="{8E9CAC00-43C1-0FE7-5A51-791C474A9CD7}"/>
                </a:ext>
              </a:extLst>
            </p:cNvPr>
            <p:cNvSpPr/>
            <p:nvPr/>
          </p:nvSpPr>
          <p:spPr>
            <a:xfrm>
              <a:off x="7741920" y="1865377"/>
              <a:ext cx="3645408" cy="222199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NZ"/>
            </a:p>
          </p:txBody>
        </p:sp>
        <p:sp>
          <p:nvSpPr>
            <p:cNvPr id="27" name="Shape 3">
              <a:extLst>
                <a:ext uri="{FF2B5EF4-FFF2-40B4-BE49-F238E27FC236}">
                  <a16:creationId xmlns:a16="http://schemas.microsoft.com/office/drawing/2014/main" id="{9712C49F-13F6-1128-6023-4948C51A46CA}"/>
                </a:ext>
              </a:extLst>
            </p:cNvPr>
            <p:cNvSpPr/>
            <p:nvPr/>
          </p:nvSpPr>
          <p:spPr>
            <a:xfrm>
              <a:off x="7741920" y="1865376"/>
              <a:ext cx="3645408" cy="439515"/>
            </a:xfrm>
            <a:prstGeom prst="rect">
              <a:avLst/>
            </a:prstGeom>
            <a:solidFill>
              <a:srgbClr val="0D1B2A"/>
            </a:solidFill>
            <a:ln w="12700">
              <a:solidFill>
                <a:srgbClr val="0D1B2A"/>
              </a:solidFill>
              <a:prstDash val="solid"/>
            </a:ln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NZ"/>
            </a:p>
          </p:txBody>
        </p:sp>
        <p:sp>
          <p:nvSpPr>
            <p:cNvPr id="28" name="Text 10">
              <a:extLst>
                <a:ext uri="{FF2B5EF4-FFF2-40B4-BE49-F238E27FC236}">
                  <a16:creationId xmlns:a16="http://schemas.microsoft.com/office/drawing/2014/main" id="{67876645-7ABF-1BA5-AB5A-431AFE1B0058}"/>
                </a:ext>
              </a:extLst>
            </p:cNvPr>
            <p:cNvSpPr/>
            <p:nvPr/>
          </p:nvSpPr>
          <p:spPr>
            <a:xfrm>
              <a:off x="7810500" y="1911096"/>
              <a:ext cx="3460048" cy="31742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High Cohesion</a:t>
              </a:r>
              <a:endParaRPr lang="en-US" sz="1600" dirty="0"/>
            </a:p>
          </p:txBody>
        </p:sp>
        <p:sp>
          <p:nvSpPr>
            <p:cNvPr id="29" name="Text 11">
              <a:extLst>
                <a:ext uri="{FF2B5EF4-FFF2-40B4-BE49-F238E27FC236}">
                  <a16:creationId xmlns:a16="http://schemas.microsoft.com/office/drawing/2014/main" id="{2E7A3908-3B64-D364-9291-415F02391872}"/>
                </a:ext>
              </a:extLst>
            </p:cNvPr>
            <p:cNvSpPr/>
            <p:nvPr/>
          </p:nvSpPr>
          <p:spPr>
            <a:xfrm>
              <a:off x="7810500" y="2407183"/>
              <a:ext cx="3422976" cy="107437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just">
                <a:buNone/>
              </a:pPr>
              <a:r>
                <a:rPr lang="en-US" sz="105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Each class handles specific behaviors, such as Booking class handles Confirm() which changes the booking status, </a:t>
              </a:r>
              <a:r>
                <a:rPr lang="en-US" sz="1050" dirty="0" err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FlightService</a:t>
              </a:r>
              <a:r>
                <a:rPr lang="en-US" sz="105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handles flight operations. 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26F5C07-0AC7-911A-F0B1-914FE257B810}"/>
              </a:ext>
            </a:extLst>
          </p:cNvPr>
          <p:cNvGrpSpPr/>
          <p:nvPr/>
        </p:nvGrpSpPr>
        <p:grpSpPr>
          <a:xfrm>
            <a:off x="7672079" y="4171423"/>
            <a:ext cx="2972626" cy="2125980"/>
            <a:chOff x="3502152" y="4133089"/>
            <a:chExt cx="2697480" cy="1664208"/>
          </a:xfrm>
        </p:grpSpPr>
        <p:sp>
          <p:nvSpPr>
            <p:cNvPr id="38" name="Shape 8">
              <a:extLst>
                <a:ext uri="{FF2B5EF4-FFF2-40B4-BE49-F238E27FC236}">
                  <a16:creationId xmlns:a16="http://schemas.microsoft.com/office/drawing/2014/main" id="{2409DD24-EB64-E3D1-64D5-EEA138CC094F}"/>
                </a:ext>
              </a:extLst>
            </p:cNvPr>
            <p:cNvSpPr/>
            <p:nvPr/>
          </p:nvSpPr>
          <p:spPr>
            <a:xfrm>
              <a:off x="3502152" y="4133089"/>
              <a:ext cx="2697480" cy="16642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2E8F0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2000"/>
                </a:srgbClr>
              </a:outerShdw>
            </a:effectLst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NZ" dirty="0"/>
            </a:p>
          </p:txBody>
        </p:sp>
        <p:sp>
          <p:nvSpPr>
            <p:cNvPr id="39" name="Shape 3">
              <a:extLst>
                <a:ext uri="{FF2B5EF4-FFF2-40B4-BE49-F238E27FC236}">
                  <a16:creationId xmlns:a16="http://schemas.microsoft.com/office/drawing/2014/main" id="{047ED5DB-FE41-B7EC-6115-58B3AE80BF89}"/>
                </a:ext>
              </a:extLst>
            </p:cNvPr>
            <p:cNvSpPr/>
            <p:nvPr/>
          </p:nvSpPr>
          <p:spPr>
            <a:xfrm>
              <a:off x="3502152" y="4133089"/>
              <a:ext cx="2697480" cy="329184"/>
            </a:xfrm>
            <a:prstGeom prst="rect">
              <a:avLst/>
            </a:prstGeom>
            <a:solidFill>
              <a:srgbClr val="0D1B2A"/>
            </a:solidFill>
            <a:ln w="12700">
              <a:solidFill>
                <a:srgbClr val="0D1B2A"/>
              </a:solidFill>
              <a:prstDash val="solid"/>
            </a:ln>
          </p:spPr>
          <p:txBody>
            <a:bodyPr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NZ" dirty="0"/>
            </a:p>
          </p:txBody>
        </p:sp>
        <p:sp>
          <p:nvSpPr>
            <p:cNvPr id="40" name="Text 10">
              <a:extLst>
                <a:ext uri="{FF2B5EF4-FFF2-40B4-BE49-F238E27FC236}">
                  <a16:creationId xmlns:a16="http://schemas.microsoft.com/office/drawing/2014/main" id="{6EEED27E-0DA8-5282-EE84-AEB69C75EA4B}"/>
                </a:ext>
              </a:extLst>
            </p:cNvPr>
            <p:cNvSpPr/>
            <p:nvPr/>
          </p:nvSpPr>
          <p:spPr>
            <a:xfrm>
              <a:off x="3570732" y="4178809"/>
              <a:ext cx="2560320" cy="23774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Low Coupling</a:t>
              </a:r>
              <a:endParaRPr lang="en-US" sz="1600" dirty="0"/>
            </a:p>
          </p:txBody>
        </p:sp>
        <p:sp>
          <p:nvSpPr>
            <p:cNvPr id="41" name="Text 11">
              <a:extLst>
                <a:ext uri="{FF2B5EF4-FFF2-40B4-BE49-F238E27FC236}">
                  <a16:creationId xmlns:a16="http://schemas.microsoft.com/office/drawing/2014/main" id="{BC772646-1654-CF34-ED22-11D93D486479}"/>
                </a:ext>
              </a:extLst>
            </p:cNvPr>
            <p:cNvSpPr/>
            <p:nvPr/>
          </p:nvSpPr>
          <p:spPr>
            <a:xfrm>
              <a:off x="3570732" y="4507993"/>
              <a:ext cx="2532888" cy="8046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just">
                <a:buNone/>
              </a:pPr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Minimizes dependencies between classes. Through the use of interface. Components such as </a:t>
              </a:r>
              <a:r>
                <a:rPr lang="en-US" sz="105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MainMenu</a:t>
              </a:r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, </a:t>
              </a:r>
              <a:r>
                <a:rPr lang="en-US" sz="105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AdminMenu</a:t>
              </a:r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, </a:t>
              </a:r>
              <a:r>
                <a:rPr lang="en-US" sz="1050" dirty="0" err="1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CustomerMenu</a:t>
              </a:r>
              <a:r>
                <a:rPr lang="en-US" sz="1050" dirty="0">
                  <a:solidFill>
                    <a:srgbClr val="1E293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does not directly uses concrete service classes rather it interacts with services through interfaces – which allows flexibility </a:t>
              </a:r>
              <a:endParaRPr lang="en-US" sz="1050" dirty="0"/>
            </a:p>
          </p:txBody>
        </p:sp>
      </p:grpSp>
    </p:spTree>
    <p:extLst>
      <p:ext uri="{BB962C8B-B14F-4D97-AF65-F5344CB8AC3E}">
        <p14:creationId xmlns:p14="http://schemas.microsoft.com/office/powerpoint/2010/main" val="21824843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E7D2D-D839-A4EF-A8AD-67F692B9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7E44B-90C3-3759-25C3-381DAF078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Core Functionalities:</a:t>
            </a:r>
          </a:p>
          <a:p>
            <a:pPr lvl="1"/>
            <a:r>
              <a:rPr lang="en-US" dirty="0"/>
              <a:t>User authentication</a:t>
            </a:r>
          </a:p>
          <a:p>
            <a:pPr lvl="1"/>
            <a:r>
              <a:rPr lang="en-US" dirty="0"/>
              <a:t>Role-base Access</a:t>
            </a:r>
          </a:p>
          <a:p>
            <a:pPr lvl="1"/>
            <a:r>
              <a:rPr lang="en-US" dirty="0"/>
              <a:t>Flight management</a:t>
            </a:r>
          </a:p>
          <a:p>
            <a:pPr lvl="1"/>
            <a:r>
              <a:rPr lang="en-US" dirty="0"/>
              <a:t>And booking operations</a:t>
            </a:r>
          </a:p>
        </p:txBody>
      </p:sp>
    </p:spTree>
    <p:extLst>
      <p:ext uri="{BB962C8B-B14F-4D97-AF65-F5344CB8AC3E}">
        <p14:creationId xmlns:p14="http://schemas.microsoft.com/office/powerpoint/2010/main" val="2471593820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TM03457464[[fn=Dividend]]</Template>
  <TotalTime>486</TotalTime>
  <Words>464</Words>
  <Application>Microsoft Office PowerPoint</Application>
  <PresentationFormat>Widescreen</PresentationFormat>
  <Paragraphs>73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Arial</vt:lpstr>
      <vt:lpstr>Bierstadt</vt:lpstr>
      <vt:lpstr>Calibri</vt:lpstr>
      <vt:lpstr>GestaltVTI</vt:lpstr>
      <vt:lpstr>Air New Zealand Flight Booking System</vt:lpstr>
      <vt:lpstr>Background and Context</vt:lpstr>
      <vt:lpstr>Stakeholders</vt:lpstr>
      <vt:lpstr>Flight Booking System</vt:lpstr>
      <vt:lpstr>UML Class Diagram</vt:lpstr>
      <vt:lpstr>OOP Principles</vt:lpstr>
      <vt:lpstr>Live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 Danielle Cantos</dc:creator>
  <cp:lastModifiedBy>Christian Danielle Cantos</cp:lastModifiedBy>
  <cp:revision>4</cp:revision>
  <dcterms:created xsi:type="dcterms:W3CDTF">2026-04-18T13:50:15Z</dcterms:created>
  <dcterms:modified xsi:type="dcterms:W3CDTF">2026-04-19T11:15:33Z</dcterms:modified>
</cp:coreProperties>
</file>